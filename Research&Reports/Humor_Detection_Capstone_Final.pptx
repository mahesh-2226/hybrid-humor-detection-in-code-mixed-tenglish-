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23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7B5EA7">
              <a:alpha val="15000"/>
            </a:srgbClr>
          </a:solidFill>
          <a:ln w="12700">
            <a:solidFill>
              <a:srgbClr val="7B5EA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1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50292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05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Humor Detection in Romanized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Telugu–English Code-Mixed Text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2377440" y="2377440"/>
            <a:ext cx="4389120" cy="347472"/>
          </a:xfrm>
          <a:prstGeom prst="rect">
            <a:avLst/>
          </a:prstGeom>
          <a:solidFill>
            <a:srgbClr val="C2185B">
              <a:alpha val="9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2386584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Custom Synthetic Tenglish Dataset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8163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MuRIL Transformer and Heuristic Augmentation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286000" y="3291840"/>
            <a:ext cx="4572000" cy="27432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Evaluation Presentation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886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6070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060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78992" y="1060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490472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533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5453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078992" y="1545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1975104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996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0299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078992" y="2029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" y="2459736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1460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9808" y="2514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078992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65760" y="2944368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999232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2999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078992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Architecture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365760" y="3429000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483864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9808" y="34838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078992" y="34838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Model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65760" y="3913632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96849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" y="39684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1078992" y="39684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Engine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365760" y="4398264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453128"/>
            <a:ext cx="256032" cy="25603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9808" y="4453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1078992" y="4453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Fusion Model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754880" y="1005840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1060704"/>
            <a:ext cx="256032" cy="25603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138928" y="106070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27"/>
          <p:cNvSpPr/>
          <p:nvPr/>
        </p:nvSpPr>
        <p:spPr>
          <a:xfrm>
            <a:off x="5468112" y="10607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4754880" y="1490472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1545336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138928" y="15453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5468112" y="1545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100" dirty="0"/>
          </a:p>
        </p:txBody>
      </p:sp>
      <p:sp>
        <p:nvSpPr>
          <p:cNvPr id="43" name="Shape 31"/>
          <p:cNvSpPr/>
          <p:nvPr/>
        </p:nvSpPr>
        <p:spPr>
          <a:xfrm>
            <a:off x="4754880" y="1975104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6320" y="2029968"/>
            <a:ext cx="256032" cy="25603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5138928" y="20299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6" name="Text 33"/>
          <p:cNvSpPr/>
          <p:nvPr/>
        </p:nvSpPr>
        <p:spPr>
          <a:xfrm>
            <a:off x="5468112" y="202996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Results-1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4754880" y="2459736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6320" y="2514600"/>
            <a:ext cx="256032" cy="25603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5138928" y="2514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0" name="Text 36"/>
          <p:cNvSpPr/>
          <p:nvPr/>
        </p:nvSpPr>
        <p:spPr>
          <a:xfrm>
            <a:off x="5468112" y="2514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Results-2</a:t>
            </a:r>
            <a:endParaRPr lang="en-US" sz="1100" dirty="0"/>
          </a:p>
        </p:txBody>
      </p:sp>
      <p:sp>
        <p:nvSpPr>
          <p:cNvPr id="51" name="Shape 37"/>
          <p:cNvSpPr/>
          <p:nvPr/>
        </p:nvSpPr>
        <p:spPr>
          <a:xfrm>
            <a:off x="4754880" y="2944368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2999232"/>
            <a:ext cx="256032" cy="256032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5138928" y="29992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4" name="Text 39"/>
          <p:cNvSpPr/>
          <p:nvPr/>
        </p:nvSpPr>
        <p:spPr>
          <a:xfrm>
            <a:off x="5468112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Limitations</a:t>
            </a:r>
            <a:endParaRPr lang="en-US" sz="1100" dirty="0"/>
          </a:p>
        </p:txBody>
      </p:sp>
      <p:sp>
        <p:nvSpPr>
          <p:cNvPr id="55" name="Shape 40"/>
          <p:cNvSpPr/>
          <p:nvPr/>
        </p:nvSpPr>
        <p:spPr>
          <a:xfrm>
            <a:off x="4754880" y="3429000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46320" y="3483864"/>
            <a:ext cx="256032" cy="256032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5138928" y="348386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8" name="Text 42"/>
          <p:cNvSpPr/>
          <p:nvPr/>
        </p:nvSpPr>
        <p:spPr>
          <a:xfrm>
            <a:off x="5468112" y="34838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Works &amp; Conclusion</a:t>
            </a:r>
            <a:endParaRPr lang="en-US" sz="1100" dirty="0"/>
          </a:p>
        </p:txBody>
      </p:sp>
      <p:sp>
        <p:nvSpPr>
          <p:cNvPr id="59" name="Shape 43"/>
          <p:cNvSpPr/>
          <p:nvPr/>
        </p:nvSpPr>
        <p:spPr>
          <a:xfrm>
            <a:off x="4754880" y="3913632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46320" y="3968496"/>
            <a:ext cx="256032" cy="256032"/>
          </a:xfrm>
          <a:prstGeom prst="rect">
            <a:avLst/>
          </a:prstGeom>
        </p:spPr>
      </p:pic>
      <p:sp>
        <p:nvSpPr>
          <p:cNvPr id="61" name="Text 44"/>
          <p:cNvSpPr/>
          <p:nvPr/>
        </p:nvSpPr>
        <p:spPr>
          <a:xfrm>
            <a:off x="5138928" y="396849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2" name="Text 45"/>
          <p:cNvSpPr/>
          <p:nvPr/>
        </p:nvSpPr>
        <p:spPr>
          <a:xfrm>
            <a:off x="5468112" y="39684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Note</a:t>
            </a:r>
            <a:endParaRPr lang="en-US" sz="1100" dirty="0"/>
          </a:p>
        </p:txBody>
      </p:sp>
      <p:sp>
        <p:nvSpPr>
          <p:cNvPr id="63" name="Shape 46"/>
          <p:cNvSpPr/>
          <p:nvPr/>
        </p:nvSpPr>
        <p:spPr>
          <a:xfrm>
            <a:off x="4754880" y="4398264"/>
            <a:ext cx="3931920" cy="393192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6320" y="4453128"/>
            <a:ext cx="256032" cy="256032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5138928" y="44531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6" name="Text 48"/>
          <p:cNvSpPr/>
          <p:nvPr/>
        </p:nvSpPr>
        <p:spPr>
          <a:xfrm>
            <a:off x="5468112" y="4453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41605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4160520" cy="475488"/>
          </a:xfrm>
          <a:prstGeom prst="rect">
            <a:avLst/>
          </a:prstGeom>
          <a:solidFill>
            <a:srgbClr val="E65100">
              <a:alpha val="90000"/>
            </a:srgbClr>
          </a:solidFill>
          <a:ln w="12700">
            <a:solidFill>
              <a:srgbClr val="E65100">
                <a:alpha val="9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8696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" y="9052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" y="1389888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communication in India is increasingly code-mixed (Tenglish)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Tenglish text is highly unstructured, informal, and inconsistent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models trained on formal monolingual text fail on such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detection depends on context, sarcasm, and implicit meaning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humor makes the problem more complex and real-world relevant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160520" cy="41605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7B5EA7">
                <a:alpha val="5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822960"/>
            <a:ext cx="4160520" cy="475488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>
                <a:alpha val="9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8696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0368" y="90525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18888" y="1389888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online content (memes, chats, comments) uses informal Tenglish with humor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struggle with transliteration and mixed-language patterns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Emojis, slang, and stylistic variations are key humor signals but often ignored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lack of large, well-structured datasets for Tenglish humor detection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approach is needed to combine contextual understanding and heuristic cues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804672"/>
            <a:ext cx="6949440" cy="1005840"/>
          </a:xfrm>
          <a:prstGeom prst="rect">
            <a:avLst/>
          </a:prstGeom>
          <a:solidFill>
            <a:srgbClr val="C2185B">
              <a:alpha val="9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69494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can we accurately detect humor in Romanized Telugu–English (Tenglish)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code-mixed social media text?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2743200" cy="3017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7B5EA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920240"/>
            <a:ext cx="2743200" cy="420624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47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Linguistic Variation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14016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Tenglish has no standard grammar, spelling, or sentence structure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word appears in multiple transliterated forms (e.g., variations in typing)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language switching within a single sentence confuses models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NLP fails to capture meaning due to inconsistent linguistic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1920240"/>
            <a:ext cx="2743200" cy="3017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72968" y="1920240"/>
            <a:ext cx="2743200" cy="420624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947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Non-Linguistic Cues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2414016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is often expressed through emojis, slang, and exaggerated text styles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Sarcasm and irony rely on context beyond literal word meanings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characters and informal expressions carry hidden humor signals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text-based models ignore these cues, reducing detection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896" y="1920240"/>
            <a:ext cx="2743200" cy="30175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388E3C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5896" y="1920240"/>
            <a:ext cx="2743200" cy="420624"/>
          </a:xfrm>
          <a:prstGeom prst="rect">
            <a:avLst/>
          </a:prstGeom>
          <a:solidFill>
            <a:srgbClr val="388E3C">
              <a:alpha val="85000"/>
            </a:srgbClr>
          </a:solidFill>
          <a:ln w="12700">
            <a:solidFill>
              <a:srgbClr val="388E3C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336" y="1947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Low-Resource Setting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17336" y="2414016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limited labeled datasets exist for Tenglish humor detection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English data do not generalize well to code-mixed text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variation in real-world data requires strong generalization ability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resources makes building robust and scalable models difficult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8E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1188720" cy="914400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08760" y="1307592"/>
            <a:ext cx="27432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0512" y="868680"/>
            <a:ext cx="699516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7B5EA7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914400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Naïve Bayes, Logistic Regression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920240" y="117957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handcrafted features like n-grams, sentiment, and lexical patterns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interpretable but lacks deep contextual understanding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poorly on sarcasm, ambiguity, and informal code-mixed 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11096"/>
            <a:ext cx="1188720" cy="914400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56816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08760" y="2350008"/>
            <a:ext cx="274320" cy="3657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0512" y="1911096"/>
            <a:ext cx="699516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565C0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1956816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RNN, LSTM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920240" y="222199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features from data without manual engineering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sequential patterns better than traditional methods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long-range dependencies and complex humor cues like sarcasm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953512"/>
            <a:ext cx="1188720" cy="914400"/>
          </a:xfrm>
          <a:prstGeom prst="rect">
            <a:avLst/>
          </a:prstGeom>
          <a:solidFill>
            <a:srgbClr val="388E3C">
              <a:alpha val="90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9923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08760" y="3392424"/>
            <a:ext cx="274320" cy="365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2953512"/>
            <a:ext cx="699516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388E3C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2999232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XLM-RoBERTa, mBERT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920240" y="326440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self-attention to capture deep contextual relationships in text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in multilingual and complex NLP tasks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effectiveness on informal, code-mixed text and non-linguistic signals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95928"/>
            <a:ext cx="1188720" cy="914400"/>
          </a:xfrm>
          <a:prstGeom prst="rect">
            <a:avLst/>
          </a:prstGeom>
          <a:solidFill>
            <a:srgbClr val="C2185B">
              <a:alpha val="90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416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508760" y="4434840"/>
            <a:ext cx="274320" cy="36576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10512" y="3995928"/>
            <a:ext cx="699516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2185B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041648"/>
            <a:ext cx="6766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MuRIL, IndicBERT, Telugu-BERT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20240" y="430682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specifically on Indian languages and transliterated text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code-mixed inputs like Tenglish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require additional techniques to capture emojis, slang, and stylistic humor cues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1920240" cy="1234440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961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36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804672"/>
            <a:ext cx="1920240" cy="1234440"/>
          </a:xfrm>
          <a:prstGeom prst="rect">
            <a:avLst/>
          </a:prstGeom>
          <a:solidFill>
            <a:srgbClr val="C2185B">
              <a:alpha val="85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8961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68880" y="1536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Humorous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1920240" cy="1234440"/>
          </a:xfrm>
          <a:prstGeom prst="rect">
            <a:avLst/>
          </a:prstGeom>
          <a:solidFill>
            <a:srgbClr val="388E3C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8961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1536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Non-Humorous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804672"/>
            <a:ext cx="1920240" cy="1234440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896112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80/10/10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1536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176272"/>
            <a:ext cx="8503920" cy="475488"/>
          </a:xfrm>
          <a:prstGeom prst="rect">
            <a:avLst/>
          </a:prstGeom>
          <a:solidFill>
            <a:srgbClr val="C2185B">
              <a:alpha val="95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0370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Custom Synthetic Dataset: No publicly available dataset exists for Tenglish humor detection — this dataset was created from scratch.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670048"/>
            <a:ext cx="8503920" cy="235915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7B5EA7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670048"/>
            <a:ext cx="8503920" cy="438912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>
                <a:alpha val="85000"/>
              </a:srgbClr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24912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6112" y="2734056"/>
            <a:ext cx="7772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Characteristics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3218688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synthetic dataset generated programmatically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Tenglish (Telugu + English) code-mixed text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663440" y="3218688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slang, emojis, and transliteration variations</a:t>
            </a:r>
            <a:endParaRPr lang="en-US" sz="12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 with equal humorous and non-humorous samples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1325880" cy="1005840"/>
          </a:xfrm>
          <a:prstGeom prst="rect">
            <a:avLst/>
          </a:prstGeom>
          <a:solidFill>
            <a:srgbClr val="7B5EA7">
              <a:alpha val="85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Tenglish Text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54480" y="1316736"/>
            <a:ext cx="137160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868680"/>
            <a:ext cx="1325880" cy="1005840"/>
          </a:xfrm>
          <a:prstGeom prst="rect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Normalize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1316736"/>
            <a:ext cx="137160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868680"/>
            <a:ext cx="1325880" cy="1005840"/>
          </a:xfrm>
          <a:prstGeom prst="rect">
            <a:avLst/>
          </a:prstGeom>
          <a:solidFill>
            <a:srgbClr val="388E3C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16736"/>
            <a:ext cx="137160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868680"/>
            <a:ext cx="1325880" cy="1005840"/>
          </a:xfrm>
          <a:prstGeom prst="rect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316736"/>
            <a:ext cx="137160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868680"/>
            <a:ext cx="1325880" cy="1005840"/>
          </a:xfrm>
          <a:prstGeom prst="rect">
            <a:avLst/>
          </a:prstGeom>
          <a:solidFill>
            <a:srgbClr val="C2185B">
              <a:alpha val="85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316736"/>
            <a:ext cx="137160" cy="45720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868680"/>
            <a:ext cx="1325880" cy="1005840"/>
          </a:xfrm>
          <a:prstGeom prst="rect">
            <a:avLst/>
          </a:prstGeom>
          <a:solidFill>
            <a:srgbClr val="3949AB">
              <a:alpha val="85000"/>
            </a:srgbClr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914400"/>
            <a:ext cx="1325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/ Non-Humor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2834640" cy="2880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88E3C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057400"/>
            <a:ext cx="2834640" cy="457200"/>
          </a:xfrm>
          <a:prstGeom prst="rect">
            <a:avLst/>
          </a:prstGeom>
          <a:solidFill>
            <a:srgbClr val="388E3C">
              <a:alpha val="85000"/>
            </a:srgbClr>
          </a:solidFill>
          <a:ln w="12700">
            <a:solidFill>
              <a:srgbClr val="388E3C">
                <a:alpha val="85000"/>
              </a:srgbClr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112264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3816" y="2121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Encoder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29768" y="2596896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pre-trained models (MuRIL, BERT variants) for contextual understanding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semantic relationships using self-attention mechanism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code-mixed and transliterated text effectively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score for humor classification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46120" y="2057400"/>
            <a:ext cx="2834640" cy="2880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6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057400"/>
            <a:ext cx="2834640" cy="457200"/>
          </a:xfrm>
          <a:prstGeom prst="rect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>
                <a:alpha val="85000"/>
              </a:srgbClr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2112264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39896" y="2121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Engine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355848" y="2596896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emojis and emotion-based patterns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slang, informal words, and exaggerations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sarcasm and stylistic cues (repetition, elongation)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rule-based humor score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172200" y="2057400"/>
            <a:ext cx="2834640" cy="28803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2185B">
                <a:alpha val="60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72200" y="2057400"/>
            <a:ext cx="2834640" cy="457200"/>
          </a:xfrm>
          <a:prstGeom prst="rect">
            <a:avLst/>
          </a:prstGeom>
          <a:solidFill>
            <a:srgbClr val="C2185B">
              <a:alpha val="85000"/>
            </a:srgbClr>
          </a:solidFill>
          <a:ln w="12700">
            <a:solidFill>
              <a:srgbClr val="C2185B">
                <a:alpha val="85000"/>
              </a:srgbClr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112264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65976" y="2121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Fusion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281928" y="2596896"/>
            <a:ext cx="2606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transformer output with heuristic score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weighted/threshold-based decision mechanism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detection of non-linguistic humor signals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final classification (humor / non-humor)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MuRIL — The Core Transformer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41605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4160520" cy="457200"/>
          </a:xfrm>
          <a:prstGeom prst="rect">
            <a:avLst/>
          </a:prstGeom>
          <a:solidFill>
            <a:srgbClr val="E65100">
              <a:alpha val="88000"/>
            </a:srgbClr>
          </a:solidFill>
          <a:ln w="12700">
            <a:solidFill>
              <a:srgbClr val="E65100">
                <a:alpha val="88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77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8869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MuRIL?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1389888"/>
            <a:ext cx="388620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= Multilingual Representations for Indian Languages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Google Research India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17 Indian languages + English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trained on transliterated text (Roman script Indian languages)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BERT architecture with multilingual cross-attention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mBERT on all Indian language benchmarks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822960"/>
            <a:ext cx="4160520" cy="19933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7B5EA7">
                <a:alpha val="5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822960"/>
            <a:ext cx="4160520" cy="457200"/>
          </a:xfrm>
          <a:prstGeom prst="rect">
            <a:avLst/>
          </a:prstGeom>
          <a:solidFill>
            <a:srgbClr val="7B5EA7">
              <a:alpha val="88000"/>
            </a:srgbClr>
          </a:solidFill>
          <a:ln w="12700">
            <a:solidFill>
              <a:srgbClr val="7B5EA7">
                <a:alpha val="88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87782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39512" y="8869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MuRIL for Tenglish?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18888" y="1389888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handles Romanized Telugu text (transliteration-aware)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language-switching patterns in code-mixed sentences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phonetic and morphological variation in informal text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2990088"/>
            <a:ext cx="4160520" cy="19933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88E3C">
                <a:alpha val="5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63440" y="2990088"/>
            <a:ext cx="4160520" cy="457200"/>
          </a:xfrm>
          <a:prstGeom prst="rect">
            <a:avLst/>
          </a:prstGeom>
          <a:solidFill>
            <a:srgbClr val="388E3C">
              <a:alpha val="88000"/>
            </a:srgbClr>
          </a:solidFill>
          <a:ln w="12700">
            <a:solidFill>
              <a:srgbClr val="388E3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449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39512" y="30540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Configuration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18888" y="3547872"/>
            <a:ext cx="3886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sequence length: 128 tokens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2×10⁻⁵  |  Batch size: 16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3–5 epochs using Adam optimizer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Engine — Processing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 of the rule-based heuristic component.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00796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88920" cy="457200"/>
          </a:xfrm>
          <a:prstGeom prst="rect">
            <a:avLst/>
          </a:prstGeom>
          <a:solidFill>
            <a:srgbClr val="00796B">
              <a:alpha val="90000"/>
            </a:srgbClr>
          </a:solidFill>
          <a:ln w="12700">
            <a:solidFill>
              <a:srgbClr val="00796B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8813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07899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Handling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53619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Tenglish text input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emojis and informal writing styles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text for rule-based analysis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88E3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005840"/>
            <a:ext cx="2788920" cy="457200"/>
          </a:xfrm>
          <a:prstGeom prst="rect">
            <a:avLst/>
          </a:prstGeom>
          <a:solidFill>
            <a:srgbClr val="388E3C">
              <a:alpha val="90000"/>
            </a:srgbClr>
          </a:solidFill>
          <a:ln w="12700">
            <a:solidFill>
              <a:srgbClr val="388E3C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07899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08813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75888" y="107899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Detection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28416" y="153619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emojis and emoticons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slang and informal expressions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repeated letters and exaggeration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00584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1565C0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1005840"/>
            <a:ext cx="2788920" cy="457200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07899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08813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20256" y="107899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Cues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72784" y="153619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sarcasm and ironic phrases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contrast words indicating humor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exaggerated or playful wording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7B5EA7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17520"/>
            <a:ext cx="2788920" cy="457200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9067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09067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Understanding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354787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detected patterns into meaningful signals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humor-related cues in text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irrelevant or weak patterns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18688" y="301752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E65100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18688" y="3017520"/>
            <a:ext cx="2788920" cy="457200"/>
          </a:xfrm>
          <a:prstGeom prst="rect">
            <a:avLst/>
          </a:prstGeom>
          <a:solidFill>
            <a:srgbClr val="E65100">
              <a:alpha val="90000"/>
            </a:srgbClr>
          </a:solidFill>
          <a:ln w="12700">
            <a:solidFill>
              <a:srgbClr val="E65100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309067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75888" y="309067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28416" y="354787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strength of detected humor signals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importance to strong indicators like sarcasm and emojis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between multiple signals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3017520"/>
            <a:ext cx="2788920" cy="1901952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C2185B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3017520"/>
            <a:ext cx="2788920" cy="457200"/>
          </a:xfrm>
          <a:prstGeom prst="rect">
            <a:avLst/>
          </a:prstGeom>
          <a:solidFill>
            <a:srgbClr val="C2185B">
              <a:alpha val="90000"/>
            </a:srgbClr>
          </a:solidFill>
          <a:ln w="12700">
            <a:solidFill>
              <a:srgbClr val="C2185B">
                <a:alpha val="9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3090672"/>
            <a:ext cx="292608" cy="292608"/>
          </a:xfrm>
          <a:prstGeom prst="ellipse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3099816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20256" y="3090672"/>
            <a:ext cx="2240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Heuristic Output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272784" y="3547872"/>
            <a:ext cx="257860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final rule-based decision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whether text is humorous or not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hybrid model for final prediction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Fusion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384048"/>
          </a:xfrm>
          <a:prstGeom prst="rect">
            <a:avLst/>
          </a:prstGeom>
          <a:solidFill>
            <a:srgbClr val="C2185B">
              <a:alpha val="12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Hybrid approach combines deep understanding with human-like pattern recognition for accurate humor detection.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07008"/>
            <a:ext cx="2423160" cy="1874520"/>
          </a:xfrm>
          <a:prstGeom prst="rect">
            <a:avLst/>
          </a:prstGeom>
          <a:solidFill>
            <a:srgbClr val="388E3C">
              <a:alpha val="88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07008"/>
            <a:ext cx="2423160" cy="43891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221284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contextual meaning from text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language structure and semantics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initial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1847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291840" y="1069848"/>
            <a:ext cx="2834640" cy="2148840"/>
          </a:xfrm>
          <a:prstGeom prst="rect">
            <a:avLst/>
          </a:prstGeom>
          <a:solidFill>
            <a:srgbClr val="C2185B">
              <a:alpha val="95000"/>
            </a:srgbClr>
          </a:solidFill>
          <a:ln w="12700">
            <a:solidFill>
              <a:srgbClr val="C2185B"/>
            </a:solidFill>
            <a:prstDash val="solid"/>
          </a:ln>
          <a:effectLst>
            <a:outerShdw sx="100000" sy="100000" kx="0" ky="0" algn="bl" rotWithShape="0" blurRad="76200" dist="38100" dir="2700000">
              <a:srgbClr val="888888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69848"/>
            <a:ext cx="2834640" cy="475488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155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Smart Fusion Decision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618488"/>
            <a:ext cx="2615184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both contextual and rule-based signals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priority to strong humor indicators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 inputs for better judgment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between signals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44768" y="1847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720840" y="1207008"/>
            <a:ext cx="2103120" cy="1874520"/>
          </a:xfrm>
          <a:prstGeom prst="rect">
            <a:avLst/>
          </a:prstGeom>
          <a:solidFill>
            <a:srgbClr val="E65100">
              <a:alpha val="88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207008"/>
            <a:ext cx="210312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26187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Rule-Based Signals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0568" y="1737360"/>
            <a:ext cx="190195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emojis, slang, and informal patterns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sarcasm and exaggeration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non-linguistic humor cues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51960" y="309067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560320" y="3520440"/>
            <a:ext cx="4023360" cy="1417320"/>
          </a:xfrm>
          <a:prstGeom prst="rect">
            <a:avLst/>
          </a:prstGeom>
          <a:solidFill>
            <a:srgbClr val="4A148C">
              <a:alpha val="90000"/>
            </a:srgbClr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3520440"/>
            <a:ext cx="4023360" cy="43891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5661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40233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final classification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 or  Non-Humor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single-model prediction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14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— Proposed Hybrid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126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Tenglish input → Transformer + Heuristic layers → Hybrid Fusion → Final Classification  (Fig. 1 from paper)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49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 Evaluated for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68096"/>
            <a:ext cx="8503920" cy="658368"/>
          </a:xfrm>
          <a:prstGeom prst="rect">
            <a:avLst/>
          </a:prstGeom>
          <a:solidFill>
            <a:srgbClr val="C2185B">
              <a:alpha val="92000"/>
            </a:srgbClr>
          </a:solidFill>
          <a:ln w="12700">
            <a:solidFill>
              <a:srgbClr val="C218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046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Proposed Model:  MuRIL + Heuristic (Hybrid)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92240" y="8046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Accuracy: 92.4%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model — combines contextual understanding with rule-based humor signals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7B5EA7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72768"/>
            <a:ext cx="73152" cy="621792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824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 (Base)</a:t>
            </a:r>
            <a:endParaRPr lang="en-US" sz="1200" dirty="0"/>
          </a:p>
        </p:txBody>
      </p:sp>
      <p:sp>
        <p:nvSpPr>
          <p:cNvPr id="101" name="Text R1"/>
          <p:cNvSpPr/>
          <p:nvPr/>
        </p:nvSpPr>
        <p:spPr>
          <a:xfrm>
            <a:off x="484632" y="19751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Lacks heuristic signals like emojis and sarcasm cues</a:t>
            </a:r>
          </a:p>
        </p:txBody>
      </p:sp>
      <p:sp>
        <p:nvSpPr>
          <p:cNvPr id="10" name="Text 8"/>
          <p:cNvSpPr/>
          <p:nvPr/>
        </p:nvSpPr>
        <p:spPr>
          <a:xfrm>
            <a:off x="3410712" y="16824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36008" y="1572768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565C0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6008" y="1572768"/>
            <a:ext cx="73152" cy="621792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824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</a:t>
            </a:r>
            <a:endParaRPr lang="en-US" sz="1200" dirty="0"/>
          </a:p>
        </p:txBody>
      </p:sp>
      <p:sp>
        <p:nvSpPr>
          <p:cNvPr id="102" name="Text R2"/>
          <p:cNvSpPr/>
          <p:nvPr/>
        </p:nvSpPr>
        <p:spPr>
          <a:xfrm>
            <a:off x="4800600" y="197510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Not trained on transliterated Indian code-mixed text</a:t>
            </a:r>
          </a:p>
        </p:txBody>
      </p:sp>
      <p:sp>
        <p:nvSpPr>
          <p:cNvPr id="14" name="Text 12"/>
          <p:cNvSpPr/>
          <p:nvPr/>
        </p:nvSpPr>
        <p:spPr>
          <a:xfrm>
            <a:off x="7726680" y="1682496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22576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88E3C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22576"/>
            <a:ext cx="73152" cy="621792"/>
          </a:xfrm>
          <a:prstGeom prst="rect">
            <a:avLst/>
          </a:prstGeom>
          <a:solidFill>
            <a:srgbClr val="388E3C">
              <a:alpha val="90000"/>
            </a:srgbClr>
          </a:solidFill>
          <a:ln w="12700">
            <a:solidFill>
              <a:srgbClr val="388E3C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4323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IndicBERT v2</a:t>
            </a:r>
            <a:endParaRPr lang="en-US" sz="1200" dirty="0"/>
          </a:p>
        </p:txBody>
      </p:sp>
      <p:sp>
        <p:nvSpPr>
          <p:cNvPr id="103" name="Text R3"/>
          <p:cNvSpPr/>
          <p:nvPr/>
        </p:nvSpPr>
        <p:spPr>
          <a:xfrm>
            <a:off x="484632" y="27249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Limited contextual understanding for informal humor patterns</a:t>
            </a:r>
          </a:p>
        </p:txBody>
      </p:sp>
      <p:sp>
        <p:nvSpPr>
          <p:cNvPr id="18" name="Text 16"/>
          <p:cNvSpPr/>
          <p:nvPr/>
        </p:nvSpPr>
        <p:spPr>
          <a:xfrm>
            <a:off x="3410712" y="24323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36008" y="2322576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388E3C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36008" y="2322576"/>
            <a:ext cx="73152" cy="621792"/>
          </a:xfrm>
          <a:prstGeom prst="rect">
            <a:avLst/>
          </a:prstGeom>
          <a:solidFill>
            <a:srgbClr val="388E3C">
              <a:alpha val="90000"/>
            </a:srgbClr>
          </a:solidFill>
          <a:ln w="12700">
            <a:solidFill>
              <a:srgbClr val="388E3C">
                <a:alpha val="9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4323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IndicBERT</a:t>
            </a:r>
            <a:endParaRPr lang="en-US" sz="1200" dirty="0"/>
          </a:p>
        </p:txBody>
      </p:sp>
      <p:sp>
        <p:nvSpPr>
          <p:cNvPr id="104" name="Text R4"/>
          <p:cNvSpPr/>
          <p:nvPr/>
        </p:nvSpPr>
        <p:spPr>
          <a:xfrm>
            <a:off x="4800600" y="272491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Struggles with slang, sarcasm, and stylistic variations</a:t>
            </a:r>
          </a:p>
        </p:txBody>
      </p:sp>
      <p:sp>
        <p:nvSpPr>
          <p:cNvPr id="22" name="Text 20"/>
          <p:cNvSpPr/>
          <p:nvPr/>
        </p:nvSpPr>
        <p:spPr>
          <a:xfrm>
            <a:off x="7726680" y="243230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072384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72384"/>
            <a:ext cx="73152" cy="621792"/>
          </a:xfrm>
          <a:prstGeom prst="rect">
            <a:avLst/>
          </a:prstGeom>
          <a:solidFill>
            <a:srgbClr val="E65100">
              <a:alpha val="90000"/>
            </a:srgbClr>
          </a:solidFill>
          <a:ln w="12700">
            <a:solidFill>
              <a:srgbClr val="E65100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mBERT</a:t>
            </a:r>
            <a:endParaRPr lang="en-US" sz="1200" dirty="0"/>
          </a:p>
        </p:txBody>
      </p:sp>
      <p:sp>
        <p:nvSpPr>
          <p:cNvPr id="105" name="Text R5"/>
          <p:cNvSpPr/>
          <p:nvPr/>
        </p:nvSpPr>
        <p:spPr>
          <a:xfrm>
            <a:off x="484632" y="34747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Weak handling of code-mixed and transliterated inputs</a:t>
            </a:r>
          </a:p>
        </p:txBody>
      </p:sp>
      <p:sp>
        <p:nvSpPr>
          <p:cNvPr id="26" name="Text 24"/>
          <p:cNvSpPr/>
          <p:nvPr/>
        </p:nvSpPr>
        <p:spPr>
          <a:xfrm>
            <a:off x="3410712" y="3182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36008" y="3072384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3072384"/>
            <a:ext cx="73152" cy="621792"/>
          </a:xfrm>
          <a:prstGeom prst="rect">
            <a:avLst/>
          </a:prstGeom>
          <a:solidFill>
            <a:srgbClr val="E65100">
              <a:alpha val="90000"/>
            </a:srgbClr>
          </a:solidFill>
          <a:ln w="12700">
            <a:solidFill>
              <a:srgbClr val="E65100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Telugu-BERT</a:t>
            </a:r>
            <a:endParaRPr lang="en-US" sz="1200" dirty="0"/>
          </a:p>
        </p:txBody>
      </p:sp>
      <p:sp>
        <p:nvSpPr>
          <p:cNvPr id="106" name="Text R6"/>
          <p:cNvSpPr/>
          <p:nvPr/>
        </p:nvSpPr>
        <p:spPr>
          <a:xfrm>
            <a:off x="4800600" y="34747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Focused on native Telugu, not Romanized Tenglish</a:t>
            </a:r>
          </a:p>
        </p:txBody>
      </p:sp>
      <p:sp>
        <p:nvSpPr>
          <p:cNvPr id="30" name="Text 28"/>
          <p:cNvSpPr/>
          <p:nvPr/>
        </p:nvSpPr>
        <p:spPr>
          <a:xfrm>
            <a:off x="7726680" y="31821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822192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455A64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822192"/>
            <a:ext cx="73152" cy="621792"/>
          </a:xfrm>
          <a:prstGeom prst="rect">
            <a:avLst/>
          </a:prstGeom>
          <a:solidFill>
            <a:srgbClr val="455A64">
              <a:alpha val="90000"/>
            </a:srgbClr>
          </a:solidFill>
          <a:ln w="12700">
            <a:solidFill>
              <a:srgbClr val="455A64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 &amp; LaBSE</a:t>
            </a:r>
            <a:endParaRPr lang="en-US" sz="1200" dirty="0"/>
          </a:p>
        </p:txBody>
      </p:sp>
      <p:sp>
        <p:nvSpPr>
          <p:cNvPr id="107" name="Text R7"/>
          <p:cNvSpPr/>
          <p:nvPr/>
        </p:nvSpPr>
        <p:spPr>
          <a:xfrm>
            <a:off x="484632" y="42245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Designed for general multilingual tasks, not humor detection</a:t>
            </a:r>
          </a:p>
        </p:txBody>
      </p:sp>
      <p:sp>
        <p:nvSpPr>
          <p:cNvPr id="34" name="Text 32"/>
          <p:cNvSpPr/>
          <p:nvPr/>
        </p:nvSpPr>
        <p:spPr>
          <a:xfrm>
            <a:off x="3410712" y="3931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 / 82.4%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36008" y="3822192"/>
            <a:ext cx="4160520" cy="62179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455A64">
                <a:alpha val="5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6008" y="3822192"/>
            <a:ext cx="73152" cy="621792"/>
          </a:xfrm>
          <a:prstGeom prst="rect">
            <a:avLst/>
          </a:prstGeom>
          <a:solidFill>
            <a:srgbClr val="455A64">
              <a:alpha val="90000"/>
            </a:srgbClr>
          </a:solidFill>
          <a:ln w="12700">
            <a:solidFill>
              <a:srgbClr val="455A64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319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&amp; ByT5</a:t>
            </a:r>
            <a:endParaRPr lang="en-US" sz="1200" dirty="0"/>
          </a:p>
        </p:txBody>
      </p:sp>
      <p:sp>
        <p:nvSpPr>
          <p:cNvPr id="108" name="Text R8"/>
          <p:cNvSpPr/>
          <p:nvPr/>
        </p:nvSpPr>
        <p:spPr>
          <a:xfrm>
            <a:off x="4800600" y="422452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</a:rPr>
              <a:t>Better for generation tasks, not classification problems</a:t>
            </a:r>
          </a:p>
        </p:txBody>
      </p:sp>
      <p:sp>
        <p:nvSpPr>
          <p:cNvPr id="38" name="Text 36"/>
          <p:cNvSpPr/>
          <p:nvPr/>
        </p:nvSpPr>
        <p:spPr>
          <a:xfrm>
            <a:off x="7726680" y="3931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 / 80.9%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solidFill>
            <a:srgbClr val="FFF3E0">
              <a:alpha val="90000"/>
            </a:srgbClr>
          </a:solidFill>
          <a:ln w="12700">
            <a:solidFill>
              <a:srgbClr val="E65100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0001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Other models underperformed because they lack training on transliterated Indian text and cannot capture informal humor signals like emojis and slang.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EE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77800"/>
            <a:ext cx="82296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49AB"/>
                </a:solidFill>
                <a:latin typeface="Calibri" pitchFamily="34" charset="0"/>
              </a:rPr>
              <a:t>Model Performance Results  (1/2)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584200"/>
            <a:ext cx="82296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i="1" dirty="0">
                <a:solidFill>
                  <a:srgbClr val="7B7B9E"/>
                </a:solidFill>
                <a:latin typeface="Calibri" pitchFamily="34" charset="0"/>
              </a:rPr>
              <a:t>Accuracy  |  Precision  |  Recall  |  F1 Score    (bars scaled 78%–95%)</a:t>
            </a:r>
          </a:p>
        </p:txBody>
      </p:sp>
      <p:sp>
        <p:nvSpPr>
          <p:cNvPr id="4" name="CardBG0"/>
          <p:cNvSpPr/>
          <p:nvPr/>
        </p:nvSpPr>
        <p:spPr>
          <a:xfrm>
            <a:off x="254000" y="787400"/>
            <a:ext cx="2794000" cy="2051050"/>
          </a:xfrm>
          <a:prstGeom prst="rect">
            <a:avLst/>
          </a:prstGeom>
          <a:solidFill>
            <a:srgbClr val="FFF8E1"/>
          </a:solidFill>
          <a:ln w="19050">
            <a:solidFill>
              <a:srgbClr val="C2185B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Accent0"/>
          <p:cNvSpPr/>
          <p:nvPr/>
        </p:nvSpPr>
        <p:spPr>
          <a:xfrm>
            <a:off x="254000" y="787400"/>
            <a:ext cx="63500" cy="2051050"/>
          </a:xfrm>
          <a:prstGeom prst="rect">
            <a:avLst/>
          </a:prstGeom>
          <a:solidFill>
            <a:srgbClr val="C2185B"/>
          </a:solidFill>
        </p:spPr>
        <p:txBody>
          <a:bodyPr/>
          <a:lstStyle/>
          <a:p/>
        </p:txBody>
      </p:sp>
      <p:sp>
        <p:nvSpPr>
          <p:cNvPr id="6" name="Name0"/>
          <p:cNvSpPr/>
          <p:nvPr/>
        </p:nvSpPr>
        <p:spPr>
          <a:xfrm>
            <a:off x="355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latin typeface="Calibri" pitchFamily="34" charset="0"/>
              </a:rPr>
              <a:t>★  MuRIL + Heuristic</a:t>
            </a:r>
          </a:p>
        </p:txBody>
      </p:sp>
      <p:sp>
        <p:nvSpPr>
          <p:cNvPr id="7" name="Tag0"/>
          <p:cNvSpPr/>
          <p:nvPr/>
        </p:nvSpPr>
        <p:spPr>
          <a:xfrm>
            <a:off x="355600" y="1054100"/>
            <a:ext cx="2667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0" i="1" dirty="0">
                <a:solidFill>
                  <a:srgbClr val="E65100"/>
                </a:solidFill>
                <a:latin typeface="Calibri" pitchFamily="34" charset="0"/>
              </a:rPr>
              <a:t>Proposed Model</a:t>
            </a:r>
          </a:p>
        </p:txBody>
      </p:sp>
      <p:sp>
        <p:nvSpPr>
          <p:cNvPr id="8" name="M0_0"/>
          <p:cNvSpPr/>
          <p:nvPr/>
        </p:nvSpPr>
        <p:spPr>
          <a:xfrm>
            <a:off x="355600" y="1193800"/>
            <a:ext cx="2667000" cy="382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████████░░  92.4%</a:t>
            </a:r>
          </a:p>
        </p:txBody>
      </p:sp>
      <p:sp>
        <p:nvSpPr>
          <p:cNvPr id="9" name="M0_1"/>
          <p:cNvSpPr/>
          <p:nvPr/>
        </p:nvSpPr>
        <p:spPr>
          <a:xfrm>
            <a:off x="355600" y="1589087"/>
            <a:ext cx="2667000" cy="382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████████░░  91.2%</a:t>
            </a:r>
          </a:p>
        </p:txBody>
      </p:sp>
      <p:sp>
        <p:nvSpPr>
          <p:cNvPr id="10" name="M0_2"/>
          <p:cNvSpPr/>
          <p:nvPr/>
        </p:nvSpPr>
        <p:spPr>
          <a:xfrm>
            <a:off x="355600" y="1984374"/>
            <a:ext cx="2667000" cy="382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████████░░  92.5%</a:t>
            </a:r>
          </a:p>
        </p:txBody>
      </p:sp>
      <p:sp>
        <p:nvSpPr>
          <p:cNvPr id="11" name="M0_3"/>
          <p:cNvSpPr/>
          <p:nvPr/>
        </p:nvSpPr>
        <p:spPr>
          <a:xfrm>
            <a:off x="355600" y="2379661"/>
            <a:ext cx="2667000" cy="382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████████░░  91.8%</a:t>
            </a:r>
          </a:p>
        </p:txBody>
      </p:sp>
      <p:sp>
        <p:nvSpPr>
          <p:cNvPr id="12" name="CardBG1"/>
          <p:cNvSpPr/>
          <p:nvPr/>
        </p:nvSpPr>
        <p:spPr>
          <a:xfrm>
            <a:off x="3175000" y="78740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Accent1"/>
          <p:cNvSpPr/>
          <p:nvPr/>
        </p:nvSpPr>
        <p:spPr>
          <a:xfrm>
            <a:off x="3175000" y="78740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14" name="Name1"/>
          <p:cNvSpPr/>
          <p:nvPr/>
        </p:nvSpPr>
        <p:spPr>
          <a:xfrm>
            <a:off x="3276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MuRIL (Base)</a:t>
            </a:r>
          </a:p>
        </p:txBody>
      </p:sp>
      <p:sp>
        <p:nvSpPr>
          <p:cNvPr id="15" name="M1_0"/>
          <p:cNvSpPr/>
          <p:nvPr/>
        </p:nvSpPr>
        <p:spPr>
          <a:xfrm>
            <a:off x="3276600" y="109220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███████░░░  90.1%</a:t>
            </a:r>
          </a:p>
        </p:txBody>
      </p:sp>
      <p:sp>
        <p:nvSpPr>
          <p:cNvPr id="16" name="M1_1"/>
          <p:cNvSpPr/>
          <p:nvPr/>
        </p:nvSpPr>
        <p:spPr>
          <a:xfrm>
            <a:off x="3276600" y="151288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███████░░░  89.5%</a:t>
            </a:r>
          </a:p>
        </p:txBody>
      </p:sp>
      <p:sp>
        <p:nvSpPr>
          <p:cNvPr id="17" name="M1_2"/>
          <p:cNvSpPr/>
          <p:nvPr/>
        </p:nvSpPr>
        <p:spPr>
          <a:xfrm>
            <a:off x="3276600" y="193357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███████░░░  90.2%</a:t>
            </a:r>
          </a:p>
        </p:txBody>
      </p:sp>
      <p:sp>
        <p:nvSpPr>
          <p:cNvPr id="18" name="M1_3"/>
          <p:cNvSpPr/>
          <p:nvPr/>
        </p:nvSpPr>
        <p:spPr>
          <a:xfrm>
            <a:off x="3276600" y="235426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███████░░░  89.8%</a:t>
            </a:r>
          </a:p>
        </p:txBody>
      </p:sp>
      <p:sp>
        <p:nvSpPr>
          <p:cNvPr id="19" name="CardBG2"/>
          <p:cNvSpPr/>
          <p:nvPr/>
        </p:nvSpPr>
        <p:spPr>
          <a:xfrm>
            <a:off x="6096000" y="78740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Accent2"/>
          <p:cNvSpPr/>
          <p:nvPr/>
        </p:nvSpPr>
        <p:spPr>
          <a:xfrm>
            <a:off x="6096000" y="78740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21" name="Name2"/>
          <p:cNvSpPr/>
          <p:nvPr/>
        </p:nvSpPr>
        <p:spPr>
          <a:xfrm>
            <a:off x="6197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XLM-RoBERTa</a:t>
            </a:r>
          </a:p>
        </p:txBody>
      </p:sp>
      <p:sp>
        <p:nvSpPr>
          <p:cNvPr id="22" name="M2_0"/>
          <p:cNvSpPr/>
          <p:nvPr/>
        </p:nvSpPr>
        <p:spPr>
          <a:xfrm>
            <a:off x="6197600" y="109220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██████░░░░  88.5%</a:t>
            </a:r>
          </a:p>
        </p:txBody>
      </p:sp>
      <p:sp>
        <p:nvSpPr>
          <p:cNvPr id="23" name="M2_1"/>
          <p:cNvSpPr/>
          <p:nvPr/>
        </p:nvSpPr>
        <p:spPr>
          <a:xfrm>
            <a:off x="6197600" y="151288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██████░░░░  87.4%</a:t>
            </a:r>
          </a:p>
        </p:txBody>
      </p:sp>
      <p:sp>
        <p:nvSpPr>
          <p:cNvPr id="24" name="M2_2"/>
          <p:cNvSpPr/>
          <p:nvPr/>
        </p:nvSpPr>
        <p:spPr>
          <a:xfrm>
            <a:off x="6197600" y="193357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██████░░░░  88.8%</a:t>
            </a:r>
          </a:p>
        </p:txBody>
      </p:sp>
      <p:sp>
        <p:nvSpPr>
          <p:cNvPr id="25" name="M2_3"/>
          <p:cNvSpPr/>
          <p:nvPr/>
        </p:nvSpPr>
        <p:spPr>
          <a:xfrm>
            <a:off x="6197600" y="235426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██████░░░░  88.1%</a:t>
            </a:r>
          </a:p>
        </p:txBody>
      </p:sp>
      <p:sp>
        <p:nvSpPr>
          <p:cNvPr id="26" name="CardBG3"/>
          <p:cNvSpPr/>
          <p:nvPr/>
        </p:nvSpPr>
        <p:spPr>
          <a:xfrm>
            <a:off x="254000" y="296545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27" name="Accent3"/>
          <p:cNvSpPr/>
          <p:nvPr/>
        </p:nvSpPr>
        <p:spPr>
          <a:xfrm>
            <a:off x="254000" y="296545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28" name="Name3"/>
          <p:cNvSpPr/>
          <p:nvPr/>
        </p:nvSpPr>
        <p:spPr>
          <a:xfrm>
            <a:off x="355600" y="304165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IndicBERT v2</a:t>
            </a:r>
          </a:p>
        </p:txBody>
      </p:sp>
      <p:sp>
        <p:nvSpPr>
          <p:cNvPr id="29" name="M3_0"/>
          <p:cNvSpPr/>
          <p:nvPr/>
        </p:nvSpPr>
        <p:spPr>
          <a:xfrm>
            <a:off x="355600" y="327025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██████░░░░  87.9%</a:t>
            </a:r>
          </a:p>
        </p:txBody>
      </p:sp>
      <p:sp>
        <p:nvSpPr>
          <p:cNvPr id="30" name="M3_1"/>
          <p:cNvSpPr/>
          <p:nvPr/>
        </p:nvSpPr>
        <p:spPr>
          <a:xfrm>
            <a:off x="355600" y="369093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█████░░░░░  86.8%</a:t>
            </a:r>
          </a:p>
        </p:txBody>
      </p:sp>
      <p:sp>
        <p:nvSpPr>
          <p:cNvPr id="31" name="M3_2"/>
          <p:cNvSpPr/>
          <p:nvPr/>
        </p:nvSpPr>
        <p:spPr>
          <a:xfrm>
            <a:off x="355600" y="411162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██████░░░░  87.6%</a:t>
            </a:r>
          </a:p>
        </p:txBody>
      </p:sp>
      <p:sp>
        <p:nvSpPr>
          <p:cNvPr id="32" name="M3_3"/>
          <p:cNvSpPr/>
          <p:nvPr/>
        </p:nvSpPr>
        <p:spPr>
          <a:xfrm>
            <a:off x="355600" y="453231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█████░░░░░  87.2%</a:t>
            </a:r>
          </a:p>
        </p:txBody>
      </p:sp>
      <p:sp>
        <p:nvSpPr>
          <p:cNvPr id="33" name="CardBG4"/>
          <p:cNvSpPr/>
          <p:nvPr/>
        </p:nvSpPr>
        <p:spPr>
          <a:xfrm>
            <a:off x="3175000" y="296545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34" name="Accent4"/>
          <p:cNvSpPr/>
          <p:nvPr/>
        </p:nvSpPr>
        <p:spPr>
          <a:xfrm>
            <a:off x="3175000" y="296545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35" name="Name4"/>
          <p:cNvSpPr/>
          <p:nvPr/>
        </p:nvSpPr>
        <p:spPr>
          <a:xfrm>
            <a:off x="3276600" y="304165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IndicBERT</a:t>
            </a:r>
          </a:p>
        </p:txBody>
      </p:sp>
      <p:sp>
        <p:nvSpPr>
          <p:cNvPr id="36" name="M4_0"/>
          <p:cNvSpPr/>
          <p:nvPr/>
        </p:nvSpPr>
        <p:spPr>
          <a:xfrm>
            <a:off x="3276600" y="327025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█████░░░░░  87.2%</a:t>
            </a:r>
          </a:p>
        </p:txBody>
      </p:sp>
      <p:sp>
        <p:nvSpPr>
          <p:cNvPr id="37" name="M4_1"/>
          <p:cNvSpPr/>
          <p:nvPr/>
        </p:nvSpPr>
        <p:spPr>
          <a:xfrm>
            <a:off x="3276600" y="369093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█████░░░░░  86.5%</a:t>
            </a:r>
          </a:p>
        </p:txBody>
      </p:sp>
      <p:sp>
        <p:nvSpPr>
          <p:cNvPr id="38" name="M4_2"/>
          <p:cNvSpPr/>
          <p:nvPr/>
        </p:nvSpPr>
        <p:spPr>
          <a:xfrm>
            <a:off x="3276600" y="411162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█████░░░░░  87.1%</a:t>
            </a:r>
          </a:p>
        </p:txBody>
      </p:sp>
      <p:sp>
        <p:nvSpPr>
          <p:cNvPr id="39" name="M4_3"/>
          <p:cNvSpPr/>
          <p:nvPr/>
        </p:nvSpPr>
        <p:spPr>
          <a:xfrm>
            <a:off x="3276600" y="453231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█████░░░░░  86.8%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EE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77800"/>
            <a:ext cx="82296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949AB"/>
                </a:solidFill>
                <a:latin typeface="Calibri" pitchFamily="34" charset="0"/>
              </a:rPr>
              <a:t>Model Performance Results  (2/2)</a:t>
            </a:r>
          </a:p>
        </p:txBody>
      </p:sp>
      <p:sp>
        <p:nvSpPr>
          <p:cNvPr id="3" name="Sub"/>
          <p:cNvSpPr/>
          <p:nvPr/>
        </p:nvSpPr>
        <p:spPr>
          <a:xfrm>
            <a:off x="457200" y="584200"/>
            <a:ext cx="8229600" cy="20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i="1" dirty="0">
                <a:solidFill>
                  <a:srgbClr val="7B7B9E"/>
                </a:solidFill>
                <a:latin typeface="Calibri" pitchFamily="34" charset="0"/>
              </a:rPr>
              <a:t>Accuracy  |  Precision  |  Recall  |  F1 Score    (bars scaled 78%–95%)</a:t>
            </a:r>
          </a:p>
        </p:txBody>
      </p:sp>
      <p:sp>
        <p:nvSpPr>
          <p:cNvPr id="4" name="CardBG0"/>
          <p:cNvSpPr/>
          <p:nvPr/>
        </p:nvSpPr>
        <p:spPr>
          <a:xfrm>
            <a:off x="254000" y="78740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Accent0"/>
          <p:cNvSpPr/>
          <p:nvPr/>
        </p:nvSpPr>
        <p:spPr>
          <a:xfrm>
            <a:off x="254000" y="78740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6" name="Name0"/>
          <p:cNvSpPr/>
          <p:nvPr/>
        </p:nvSpPr>
        <p:spPr>
          <a:xfrm>
            <a:off x="355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mBERT</a:t>
            </a:r>
          </a:p>
        </p:txBody>
      </p:sp>
      <p:sp>
        <p:nvSpPr>
          <p:cNvPr id="7" name="M0_0"/>
          <p:cNvSpPr/>
          <p:nvPr/>
        </p:nvSpPr>
        <p:spPr>
          <a:xfrm>
            <a:off x="355600" y="109220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█████░░░░░  85.8%</a:t>
            </a:r>
          </a:p>
        </p:txBody>
      </p:sp>
      <p:sp>
        <p:nvSpPr>
          <p:cNvPr id="8" name="M0_1"/>
          <p:cNvSpPr/>
          <p:nvPr/>
        </p:nvSpPr>
        <p:spPr>
          <a:xfrm>
            <a:off x="355600" y="151288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████░░░░░░  84.2%</a:t>
            </a:r>
          </a:p>
        </p:txBody>
      </p:sp>
      <p:sp>
        <p:nvSpPr>
          <p:cNvPr id="9" name="M0_2"/>
          <p:cNvSpPr/>
          <p:nvPr/>
        </p:nvSpPr>
        <p:spPr>
          <a:xfrm>
            <a:off x="355600" y="193357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████░░░░░░  86.0%</a:t>
            </a:r>
          </a:p>
        </p:txBody>
      </p:sp>
      <p:sp>
        <p:nvSpPr>
          <p:cNvPr id="10" name="M0_3"/>
          <p:cNvSpPr/>
          <p:nvPr/>
        </p:nvSpPr>
        <p:spPr>
          <a:xfrm>
            <a:off x="355600" y="235426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████░░░░░░  85.1%</a:t>
            </a:r>
          </a:p>
        </p:txBody>
      </p:sp>
      <p:sp>
        <p:nvSpPr>
          <p:cNvPr id="11" name="CardBG1"/>
          <p:cNvSpPr/>
          <p:nvPr/>
        </p:nvSpPr>
        <p:spPr>
          <a:xfrm>
            <a:off x="3175000" y="78740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Accent1"/>
          <p:cNvSpPr/>
          <p:nvPr/>
        </p:nvSpPr>
        <p:spPr>
          <a:xfrm>
            <a:off x="3175000" y="78740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13" name="Name1"/>
          <p:cNvSpPr/>
          <p:nvPr/>
        </p:nvSpPr>
        <p:spPr>
          <a:xfrm>
            <a:off x="3276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Telugu-BERT</a:t>
            </a:r>
          </a:p>
        </p:txBody>
      </p:sp>
      <p:sp>
        <p:nvSpPr>
          <p:cNvPr id="14" name="M1_0"/>
          <p:cNvSpPr/>
          <p:nvPr/>
        </p:nvSpPr>
        <p:spPr>
          <a:xfrm>
            <a:off x="3276600" y="109220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████░░░░░░  84.6%</a:t>
            </a:r>
          </a:p>
        </p:txBody>
      </p:sp>
      <p:sp>
        <p:nvSpPr>
          <p:cNvPr id="15" name="M1_1"/>
          <p:cNvSpPr/>
          <p:nvPr/>
        </p:nvSpPr>
        <p:spPr>
          <a:xfrm>
            <a:off x="3276600" y="151288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███░░░░░░░  83.1%</a:t>
            </a:r>
          </a:p>
        </p:txBody>
      </p:sp>
      <p:sp>
        <p:nvSpPr>
          <p:cNvPr id="16" name="M1_2"/>
          <p:cNvSpPr/>
          <p:nvPr/>
        </p:nvSpPr>
        <p:spPr>
          <a:xfrm>
            <a:off x="3276600" y="193357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████░░░░░░  84.5%</a:t>
            </a:r>
          </a:p>
        </p:txBody>
      </p:sp>
      <p:sp>
        <p:nvSpPr>
          <p:cNvPr id="17" name="M1_3"/>
          <p:cNvSpPr/>
          <p:nvPr/>
        </p:nvSpPr>
        <p:spPr>
          <a:xfrm>
            <a:off x="3276600" y="235426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███░░░░░░░  83.8%</a:t>
            </a:r>
          </a:p>
        </p:txBody>
      </p:sp>
      <p:sp>
        <p:nvSpPr>
          <p:cNvPr id="18" name="CardBG2"/>
          <p:cNvSpPr/>
          <p:nvPr/>
        </p:nvSpPr>
        <p:spPr>
          <a:xfrm>
            <a:off x="6096000" y="78740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Accent2"/>
          <p:cNvSpPr/>
          <p:nvPr/>
        </p:nvSpPr>
        <p:spPr>
          <a:xfrm>
            <a:off x="6096000" y="78740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20" name="Name2"/>
          <p:cNvSpPr/>
          <p:nvPr/>
        </p:nvSpPr>
        <p:spPr>
          <a:xfrm>
            <a:off x="6197600" y="86360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XLM</a:t>
            </a:r>
          </a:p>
        </p:txBody>
      </p:sp>
      <p:sp>
        <p:nvSpPr>
          <p:cNvPr id="21" name="M2_0"/>
          <p:cNvSpPr/>
          <p:nvPr/>
        </p:nvSpPr>
        <p:spPr>
          <a:xfrm>
            <a:off x="6197600" y="109220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███░░░░░░░  83.2%</a:t>
            </a:r>
          </a:p>
        </p:txBody>
      </p:sp>
      <p:sp>
        <p:nvSpPr>
          <p:cNvPr id="22" name="M2_1"/>
          <p:cNvSpPr/>
          <p:nvPr/>
        </p:nvSpPr>
        <p:spPr>
          <a:xfrm>
            <a:off x="6197600" y="151288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███░░░░░░░  82.0%</a:t>
            </a:r>
          </a:p>
        </p:txBody>
      </p:sp>
      <p:sp>
        <p:nvSpPr>
          <p:cNvPr id="23" name="M2_2"/>
          <p:cNvSpPr/>
          <p:nvPr/>
        </p:nvSpPr>
        <p:spPr>
          <a:xfrm>
            <a:off x="6197600" y="193357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███░░░░░░░  83.2%</a:t>
            </a:r>
          </a:p>
        </p:txBody>
      </p:sp>
      <p:sp>
        <p:nvSpPr>
          <p:cNvPr id="24" name="M2_3"/>
          <p:cNvSpPr/>
          <p:nvPr/>
        </p:nvSpPr>
        <p:spPr>
          <a:xfrm>
            <a:off x="6197600" y="235426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███░░░░░░░  82.6%</a:t>
            </a:r>
          </a:p>
        </p:txBody>
      </p:sp>
      <p:sp>
        <p:nvSpPr>
          <p:cNvPr id="25" name="CardBG3"/>
          <p:cNvSpPr/>
          <p:nvPr/>
        </p:nvSpPr>
        <p:spPr>
          <a:xfrm>
            <a:off x="254000" y="296545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26" name="Accent3"/>
          <p:cNvSpPr/>
          <p:nvPr/>
        </p:nvSpPr>
        <p:spPr>
          <a:xfrm>
            <a:off x="254000" y="296545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27" name="Name3"/>
          <p:cNvSpPr/>
          <p:nvPr/>
        </p:nvSpPr>
        <p:spPr>
          <a:xfrm>
            <a:off x="355600" y="304165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LaBSE</a:t>
            </a:r>
          </a:p>
        </p:txBody>
      </p:sp>
      <p:sp>
        <p:nvSpPr>
          <p:cNvPr id="28" name="M3_0"/>
          <p:cNvSpPr/>
          <p:nvPr/>
        </p:nvSpPr>
        <p:spPr>
          <a:xfrm>
            <a:off x="355600" y="327025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███░░░░░░░  82.4%</a:t>
            </a:r>
          </a:p>
        </p:txBody>
      </p:sp>
      <p:sp>
        <p:nvSpPr>
          <p:cNvPr id="29" name="M3_1"/>
          <p:cNvSpPr/>
          <p:nvPr/>
        </p:nvSpPr>
        <p:spPr>
          <a:xfrm>
            <a:off x="355600" y="369093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██░░░░░░░░  81.2%</a:t>
            </a:r>
          </a:p>
        </p:txBody>
      </p:sp>
      <p:sp>
        <p:nvSpPr>
          <p:cNvPr id="30" name="M3_2"/>
          <p:cNvSpPr/>
          <p:nvPr/>
        </p:nvSpPr>
        <p:spPr>
          <a:xfrm>
            <a:off x="355600" y="411162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██░░░░░░░░  82.5%</a:t>
            </a:r>
          </a:p>
        </p:txBody>
      </p:sp>
      <p:sp>
        <p:nvSpPr>
          <p:cNvPr id="31" name="M3_3"/>
          <p:cNvSpPr/>
          <p:nvPr/>
        </p:nvSpPr>
        <p:spPr>
          <a:xfrm>
            <a:off x="355600" y="453231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██░░░░░░░░  81.8%</a:t>
            </a:r>
          </a:p>
        </p:txBody>
      </p:sp>
      <p:sp>
        <p:nvSpPr>
          <p:cNvPr id="32" name="CardBG4"/>
          <p:cNvSpPr/>
          <p:nvPr/>
        </p:nvSpPr>
        <p:spPr>
          <a:xfrm>
            <a:off x="3175000" y="296545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33" name="Accent4"/>
          <p:cNvSpPr/>
          <p:nvPr/>
        </p:nvSpPr>
        <p:spPr>
          <a:xfrm>
            <a:off x="3175000" y="296545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34" name="Name4"/>
          <p:cNvSpPr/>
          <p:nvPr/>
        </p:nvSpPr>
        <p:spPr>
          <a:xfrm>
            <a:off x="3276600" y="304165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mT5 / ByT5</a:t>
            </a:r>
          </a:p>
        </p:txBody>
      </p:sp>
      <p:sp>
        <p:nvSpPr>
          <p:cNvPr id="35" name="M4_0"/>
          <p:cNvSpPr/>
          <p:nvPr/>
        </p:nvSpPr>
        <p:spPr>
          <a:xfrm>
            <a:off x="3276600" y="3270250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2E7D32"/>
                </a:solidFill>
                <a:latin typeface="Calibri" pitchFamily="34" charset="0"/>
              </a:rPr>
              <a:t>Acc  ██░░░░░░░░  81.6%</a:t>
            </a:r>
          </a:p>
        </p:txBody>
      </p:sp>
      <p:sp>
        <p:nvSpPr>
          <p:cNvPr id="36" name="M4_1"/>
          <p:cNvSpPr/>
          <p:nvPr/>
        </p:nvSpPr>
        <p:spPr>
          <a:xfrm>
            <a:off x="3276600" y="3690937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1565C0"/>
                </a:solidFill>
                <a:latin typeface="Calibri" pitchFamily="34" charset="0"/>
              </a:rPr>
              <a:t>Pre  ██░░░░░░░░  80.2%</a:t>
            </a:r>
          </a:p>
        </p:txBody>
      </p:sp>
      <p:sp>
        <p:nvSpPr>
          <p:cNvPr id="37" name="M4_2"/>
          <p:cNvSpPr/>
          <p:nvPr/>
        </p:nvSpPr>
        <p:spPr>
          <a:xfrm>
            <a:off x="3276600" y="4111624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6A1B9A"/>
                </a:solidFill>
                <a:latin typeface="Calibri" pitchFamily="34" charset="0"/>
              </a:rPr>
              <a:t>Rec  ██░░░░░░░░  81.4%</a:t>
            </a:r>
          </a:p>
        </p:txBody>
      </p:sp>
      <p:sp>
        <p:nvSpPr>
          <p:cNvPr id="38" name="M4_3"/>
          <p:cNvSpPr/>
          <p:nvPr/>
        </p:nvSpPr>
        <p:spPr>
          <a:xfrm>
            <a:off x="3276600" y="4532311"/>
            <a:ext cx="2667000" cy="407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b="0" dirty="0">
                <a:solidFill>
                  <a:srgbClr val="C2185B"/>
                </a:solidFill>
                <a:latin typeface="Calibri" pitchFamily="34" charset="0"/>
              </a:rPr>
              <a:t>F1   ██░░░░░░░░  80.8%</a:t>
            </a:r>
          </a:p>
        </p:txBody>
      </p:sp>
      <p:sp>
        <p:nvSpPr>
          <p:cNvPr id="50" name="CardBG5"/>
          <p:cNvSpPr/>
          <p:nvPr/>
        </p:nvSpPr>
        <p:spPr>
          <a:xfrm>
            <a:off x="6096000" y="2965450"/>
            <a:ext cx="2794000" cy="2051050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DD"/>
            </a:solidFill>
            <a:prstDash val="solid"/>
          </a:ln>
        </p:spPr>
        <p:txBody>
          <a:bodyPr/>
          <a:lstStyle/>
          <a:p/>
        </p:txBody>
      </p:sp>
      <p:sp>
        <p:nvSpPr>
          <p:cNvPr id="51" name="Accent5"/>
          <p:cNvSpPr/>
          <p:nvPr/>
        </p:nvSpPr>
        <p:spPr>
          <a:xfrm>
            <a:off x="6096000" y="2965450"/>
            <a:ext cx="63500" cy="2051050"/>
          </a:xfrm>
          <a:prstGeom prst="rect">
            <a:avLst/>
          </a:prstGeom>
          <a:solidFill>
            <a:srgbClr val="3949AB"/>
          </a:solidFill>
        </p:spPr>
        <p:txBody>
          <a:bodyPr/>
          <a:lstStyle/>
          <a:p/>
        </p:txBody>
      </p:sp>
      <p:sp>
        <p:nvSpPr>
          <p:cNvPr id="52" name="Name5"/>
          <p:cNvSpPr/>
          <p:nvPr/>
        </p:nvSpPr>
        <p:spPr>
          <a:xfrm>
            <a:off x="6197600" y="3041650"/>
            <a:ext cx="2667000" cy="21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49AB"/>
                </a:solidFill>
                <a:latin typeface="Calibri" pitchFamily="34" charset="0"/>
              </a:rPr>
              <a:t>Confusion Matrix</a:t>
            </a:r>
          </a:p>
        </p:txBody>
      </p:sp>
      <p:sp>
        <p:nvSpPr>
          <p:cNvPr id="53" name="CM_Sub"/>
          <p:cNvSpPr/>
          <p:nvPr/>
        </p:nvSpPr>
        <p:spPr>
          <a:xfrm>
            <a:off x="6197600" y="3257550"/>
            <a:ext cx="26670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0" i="1" dirty="0">
                <a:solidFill>
                  <a:srgbClr val="7B7B9E"/>
                </a:solidFill>
                <a:latin typeface="Calibri" pitchFamily="34" charset="0"/>
              </a:rPr>
              <a:t>MuRIL + Heuristic (Best Model)</a:t>
            </a:r>
          </a:p>
        </p:txBody>
      </p:sp>
      <p:sp>
        <p:nvSpPr>
          <p:cNvPr id="54" name="CM_ColHdr"/>
          <p:cNvSpPr/>
          <p:nvPr/>
        </p:nvSpPr>
        <p:spPr>
          <a:xfrm>
            <a:off x="6197600" y="3435350"/>
            <a:ext cx="2667000" cy="17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AAAACC"/>
                </a:solidFill>
                <a:latin typeface="Calibri" pitchFamily="34" charset="0"/>
              </a:rPr>
              <a:t xml:space="preserve">              Pred: Humor    Pred: Non-Humor</a:t>
            </a:r>
          </a:p>
        </p:txBody>
      </p:sp>
      <p:sp>
        <p:nvSpPr>
          <p:cNvPr id="55" name="CM_Row1"/>
          <p:cNvSpPr/>
          <p:nvPr/>
        </p:nvSpPr>
        <p:spPr>
          <a:xfrm>
            <a:off x="6197600" y="3613150"/>
            <a:ext cx="2667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B7B9E"/>
                </a:solidFill>
                <a:latin typeface="Calibri" pitchFamily="34" charset="0"/>
              </a:rPr>
              <a:t xml:space="preserve">Act: Humor   </a:t>
            </a:r>
            <a:r>
              <a:rPr lang="en-US" sz="750" b="1" dirty="0">
                <a:solidFill>
                  <a:srgbClr val="2E7D32"/>
                </a:solidFill>
                <a:latin typeface="Calibri" pitchFamily="34" charset="0"/>
              </a:rPr>
              <a:t xml:space="preserve">462 TP   </a:t>
            </a:r>
            <a:r>
              <a:rPr lang="en-US" sz="750" b="1" dirty="0">
                <a:solidFill>
                  <a:srgbClr val="B71C1C"/>
                </a:solidFill>
                <a:latin typeface="Calibri" pitchFamily="34" charset="0"/>
              </a:rPr>
              <a:t>38 FN</a:t>
            </a:r>
          </a:p>
        </p:txBody>
      </p:sp>
      <p:sp>
        <p:nvSpPr>
          <p:cNvPr id="56" name="CM_Row2"/>
          <p:cNvSpPr/>
          <p:nvPr/>
        </p:nvSpPr>
        <p:spPr>
          <a:xfrm>
            <a:off x="6197600" y="3968750"/>
            <a:ext cx="2667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7B7B9E"/>
                </a:solidFill>
                <a:latin typeface="Calibri" pitchFamily="34" charset="0"/>
              </a:rPr>
              <a:t xml:space="preserve">Act: Non-Hum </a:t>
            </a:r>
            <a:r>
              <a:rPr lang="en-US" sz="750" b="1" dirty="0">
                <a:solidFill>
                  <a:srgbClr val="B71C1C"/>
                </a:solidFill>
                <a:latin typeface="Calibri" pitchFamily="34" charset="0"/>
              </a:rPr>
              <a:t xml:space="preserve">42 FP   </a:t>
            </a:r>
            <a:r>
              <a:rPr lang="en-US" sz="750" b="1" dirty="0">
                <a:solidFill>
                  <a:srgbClr val="2E7D32"/>
                </a:solidFill>
                <a:latin typeface="Calibri" pitchFamily="34" charset="0"/>
              </a:rPr>
              <a:t>458 TN</a:t>
            </a:r>
          </a:p>
        </p:txBody>
      </p:sp>
      <p:sp>
        <p:nvSpPr>
          <p:cNvPr id="57" name="CM_Acc"/>
          <p:cNvSpPr/>
          <p:nvPr/>
        </p:nvSpPr>
        <p:spPr>
          <a:xfrm>
            <a:off x="6197600" y="4324350"/>
            <a:ext cx="2667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0" dirty="0">
                <a:solidFill>
                  <a:srgbClr val="2E7D32"/>
                </a:solidFill>
                <a:latin typeface="Calibri" pitchFamily="34" charset="0"/>
              </a:rPr>
              <a:t>Acc  ████████░░  92.4%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E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114800" cy="4069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2185B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3268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1389888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/>
            </a: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Introduction: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humor in Telugu-English mixed text is difficult due to slang, sarcasm, and mixed language usage.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Dataset: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dataset of 10,000 samples (humor vs non-humor) was created for training and evaluation.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Transformer Model: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learn context and meaning from text for humor detection.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Heuristic Model: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methods help detect emojis, slang, and hidden humor patterns.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Hybrid Fusion: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transformer + heuristic improves overall prediction accuracy.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Results: </a:t>
            </a: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MuRIL-based model achieved the best performance (~92% accuracy).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63440" y="822960"/>
            <a:ext cx="4114800" cy="40690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65100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3268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5232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800600" y="1389888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somewhat synthetic — real social media text may have more variability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cultural nuances and regional humor may be under-represented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rules are manually constructed and require frequent updates as slang evolves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text-only — ignores multimodal cues (images, audio, video) present in social media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Tenglish — does not cover other Indian code-mixed languages like Hinglish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fine-grained humor type classification (sarcasm vs. irony vs. satire)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120640" cy="2743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7B5EA7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9326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5E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social media datasets (Twitter, Instagram, YouTube) for richer training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multimodal learning — combine text with images &amp; audio for meme humor detection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reinforcement or adaptive rule learning to make heuristics dynamic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Hinglish, Thanglish and other Indian code-mixed languages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fine-grained humor classification (sarcasm, irony, satire)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7B5EA7">
              <a:alpha val="9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7673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MuRIL + Heuristic hybrid model achieves 92.4% accuracy on Tenglish humor detection — outperforming all 10 standalone transformers. Combining deep learning with rule-based linguistic expertise proves highly effective for informal, low-resource, code-mixed language processing.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23560" y="804672"/>
            <a:ext cx="3108960" cy="274320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C2185B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932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18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Results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1371600"/>
            <a:ext cx="2834640" cy="438912"/>
          </a:xfrm>
          <a:prstGeom prst="rect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06440" y="14264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92.4%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78040" y="14630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60720" y="1901952"/>
            <a:ext cx="2834640" cy="438912"/>
          </a:xfrm>
          <a:prstGeom prst="rect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19568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0.918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78040" y="199339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60720" y="2432304"/>
            <a:ext cx="2834640" cy="438912"/>
          </a:xfrm>
          <a:prstGeom prst="rect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78040" y="252374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2962656"/>
            <a:ext cx="2834640" cy="438912"/>
          </a:xfrm>
          <a:prstGeom prst="rect">
            <a:avLst/>
          </a:prstGeom>
          <a:solidFill>
            <a:srgbClr val="C2185B">
              <a:alpha val="15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78040" y="3054096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E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60960"/>
          </a:xfrm>
          <a:prstGeom prst="rect">
            <a:avLst/>
          </a:prstGeom>
          <a:solidFill>
            <a:srgbClr val="7B5EA7"/>
          </a:solidFill>
          <a:ln>
            <a:noFill/>
          </a:ln>
        </p:spPr>
      </p:sp>
      <p:sp>
        <p:nvSpPr>
          <p:cNvPr id="3" name="BottomBar"/>
          <p:cNvSpPr/>
          <p:nvPr/>
        </p:nvSpPr>
        <p:spPr>
          <a:xfrm>
            <a:off x="0" y="6818280"/>
            <a:ext cx="9144000" cy="60960"/>
          </a:xfrm>
          <a:prstGeom prst="rect">
            <a:avLst/>
          </a:prstGeom>
          <a:solidFill>
            <a:srgbClr val="7B5EA7"/>
          </a:solidFill>
          <a:ln>
            <a:noFill/>
          </a:ln>
        </p:spPr>
      </p:sp>
      <p:sp>
        <p:nvSpPr>
          <p:cNvPr id="4" name="Divider"/>
          <p:cNvSpPr/>
          <p:nvPr/>
        </p:nvSpPr>
        <p:spPr>
          <a:xfrm>
            <a:off x="4481640" y="365760"/>
            <a:ext cx="30480" cy="6401280"/>
          </a:xfrm>
          <a:prstGeom prst="rect">
            <a:avLst/>
          </a:prstGeom>
          <a:solidFill>
            <a:srgbClr val="7B5EA7"/>
          </a:solidFill>
          <a:ln>
            <a:noFill/>
          </a:ln>
        </p:spPr>
      </p:sp>
      <p:sp>
        <p:nvSpPr>
          <p:cNvPr id="5" name="ThankYouHeading"/>
          <p:cNvSpPr/>
          <p:nvPr/>
        </p:nvSpPr>
        <p:spPr>
          <a:xfrm>
            <a:off x="274638" y="548640"/>
            <a:ext cx="39624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E35B1"/>
                </a:solidFill>
                <a:latin typeface="Trebuchet MS" pitchFamily="34" charset="0"/>
              </a:rPr>
              <a:t>Thank You!</a:t>
            </a:r>
          </a:p>
        </p:txBody>
      </p:sp>
      <p:sp>
        <p:nvSpPr>
          <p:cNvPr id="6" name="Stars"/>
          <p:cNvSpPr/>
          <p:nvPr/>
        </p:nvSpPr>
        <p:spPr>
          <a:xfrm>
            <a:off x="274638" y="1463040"/>
            <a:ext cx="3962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0" dirty="0">
                <a:solidFill>
                  <a:srgbClr val="8E44AD"/>
                </a:solidFill>
                <a:latin typeface="Trebuchet MS" pitchFamily="34" charset="0"/>
              </a:rPr>
              <a:t>★ ★ ★</a:t>
            </a:r>
          </a:p>
        </p:txBody>
      </p:sp>
      <p:sp>
        <p:nvSpPr>
          <p:cNvPr id="7" name="ThankYouMessage"/>
          <p:cNvSpPr/>
          <p:nvPr/>
        </p:nvSpPr>
        <p:spPr>
          <a:xfrm>
            <a:off x="274638" y="2133600"/>
            <a:ext cx="3962400" cy="27432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0" dirty="0">
                <a:solidFill>
                  <a:srgbClr val="4A235A"/>
                </a:solidFill>
                <a:latin typeface="Trebuchet MS" pitchFamily="34" charset="0"/>
              </a:rPr>
              <a:t>We sincerely appreciate your time and attention throughout this presentation.</a:t>
            </a:r>
          </a:p>
          <a:p>
            <a:pPr algn="ctr" indent="0" marL="0">
              <a:buNone/>
            </a:pPr>
            <a:r>
              <a:rPr lang="en-US" sz="1600" b="0" dirty="0">
                <a:solidFill>
                  <a:srgbClr val="4A235A"/>
                </a:solidFill>
                <a:latin typeface="Trebuchet MS" pitchFamily="34" charset="0"/>
              </a:rPr>
              <a:t xml:space="preserve"> </a:t>
            </a:r>
          </a:p>
          <a:p>
            <a:pPr algn="ctr" indent="0" marL="0">
              <a:buNone/>
            </a:pPr>
            <a:r>
              <a:rPr lang="en-US" sz="1600" b="0" dirty="0">
                <a:solidFill>
                  <a:srgbClr val="4A235A"/>
                </a:solidFill>
                <a:latin typeface="Trebuchet MS" pitchFamily="34" charset="0"/>
              </a:rPr>
              <a:t>We hope our work on Tenglish humor detection inspires further research in code-mixed NLP.</a:t>
            </a:r>
          </a:p>
          <a:p>
            <a:pPr algn="ctr" indent="0" marL="0">
              <a:buNone/>
            </a:pPr>
            <a:r>
              <a:rPr lang="en-US" sz="1600" b="0" dirty="0">
                <a:solidFill>
                  <a:srgbClr val="4A235A"/>
                </a:solidFill>
                <a:latin typeface="Trebuchet MS" pitchFamily="34" charset="0"/>
              </a:rPr>
              <a:t xml:space="preserve"> </a:t>
            </a:r>
          </a:p>
          <a:p>
            <a:pPr algn="ctr" indent="0" marL="0">
              <a:buNone/>
            </a:pPr>
            <a:r>
              <a:rPr lang="en-US" sz="1600" b="0" italic="1" dirty="0">
                <a:solidFill>
                  <a:srgbClr val="8E44AD"/>
                </a:solidFill>
                <a:latin typeface="Trebuchet MS" pitchFamily="34" charset="0"/>
              </a:rPr>
              <a:t>We welcome your questions and feedback!</a:t>
            </a:r>
          </a:p>
        </p:txBody>
      </p:sp>
      <p:sp>
        <p:nvSpPr>
          <p:cNvPr id="8" name="TeamHeading"/>
          <p:cNvSpPr/>
          <p:nvPr/>
        </p:nvSpPr>
        <p:spPr>
          <a:xfrm>
            <a:off x="4663320" y="548640"/>
            <a:ext cx="420648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35B1"/>
                </a:solidFill>
                <a:latin typeface="Trebuchet MS" pitchFamily="34" charset="0"/>
              </a:rPr>
              <a:t>Project Team</a:t>
            </a:r>
          </a:p>
        </p:txBody>
      </p:sp>
      <p:sp>
        <p:nvSpPr>
          <p:cNvPr id="9" name="Member1"/>
          <p:cNvSpPr/>
          <p:nvPr/>
        </p:nvSpPr>
        <p:spPr>
          <a:xfrm>
            <a:off x="4663320" y="1310640"/>
            <a:ext cx="4115880" cy="860000"/>
          </a:xfrm>
          <a:prstGeom prst="roundRect">
            <a:avLst>
              <a:gd name="adj" fmla="val 20000"/>
            </a:avLst>
          </a:prstGeom>
          <a:solidFill>
            <a:srgbClr val="EDE7F6"/>
          </a:solidFill>
          <a:ln w="19050">
            <a:solidFill>
              <a:srgbClr val="7B5EA7"/>
            </a:solidFill>
          </a:ln>
        </p:spPr>
        <p:txBody>
          <a:bodyPr wrap="square" rtlCol="0" anchor="ctr" lIns="182880" rIns="182880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</a:rPr>
              <a:t>Aarsha Sri Chandra</a:t>
            </a:r>
          </a:p>
          <a:p>
            <a:pPr algn="ctr" indent="0" marL="0">
              <a:buNone/>
            </a:pPr>
            <a:r>
              <a:rPr lang="en-US" sz="1200" b="0" dirty="0">
                <a:solidFill>
                  <a:srgbClr val="7B5EA7"/>
                </a:solidFill>
                <a:latin typeface="Trebuchet MS" pitchFamily="34" charset="0"/>
              </a:rPr>
              <a:t>AP22110010413</a:t>
            </a:r>
          </a:p>
        </p:txBody>
      </p:sp>
      <p:sp>
        <p:nvSpPr>
          <p:cNvPr id="10" name="Member2"/>
          <p:cNvSpPr/>
          <p:nvPr/>
        </p:nvSpPr>
        <p:spPr>
          <a:xfrm>
            <a:off x="4663320" y="2280640"/>
            <a:ext cx="4115880" cy="860000"/>
          </a:xfrm>
          <a:prstGeom prst="roundRect">
            <a:avLst>
              <a:gd name="adj" fmla="val 20000"/>
            </a:avLst>
          </a:prstGeom>
          <a:solidFill>
            <a:srgbClr val="EDE7F6"/>
          </a:solidFill>
          <a:ln w="19050">
            <a:solidFill>
              <a:srgbClr val="7B5EA7"/>
            </a:solidFill>
          </a:ln>
        </p:spPr>
        <p:txBody>
          <a:bodyPr wrap="square" rtlCol="0" anchor="ctr" lIns="182880" rIns="182880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</a:rPr>
              <a:t>Gona Rishitha Naga Durga</a:t>
            </a:r>
          </a:p>
          <a:p>
            <a:pPr algn="ctr" indent="0" marL="0">
              <a:buNone/>
            </a:pPr>
            <a:r>
              <a:rPr lang="en-US" sz="1200" b="0" dirty="0">
                <a:solidFill>
                  <a:srgbClr val="7B5EA7"/>
                </a:solidFill>
                <a:latin typeface="Trebuchet MS" pitchFamily="34" charset="0"/>
              </a:rPr>
              <a:t>AP22110010433</a:t>
            </a:r>
          </a:p>
        </p:txBody>
      </p:sp>
      <p:sp>
        <p:nvSpPr>
          <p:cNvPr id="11" name="Member3"/>
          <p:cNvSpPr/>
          <p:nvPr/>
        </p:nvSpPr>
        <p:spPr>
          <a:xfrm>
            <a:off x="4663320" y="3250640"/>
            <a:ext cx="4115880" cy="860000"/>
          </a:xfrm>
          <a:prstGeom prst="roundRect">
            <a:avLst>
              <a:gd name="adj" fmla="val 20000"/>
            </a:avLst>
          </a:prstGeom>
          <a:solidFill>
            <a:srgbClr val="EDE7F6"/>
          </a:solidFill>
          <a:ln w="19050">
            <a:solidFill>
              <a:srgbClr val="7B5EA7"/>
            </a:solidFill>
          </a:ln>
        </p:spPr>
        <p:txBody>
          <a:bodyPr wrap="square" rtlCol="0" anchor="ctr" lIns="182880" rIns="182880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</a:rPr>
              <a:t>Bellamkonda Mahesh</a:t>
            </a:r>
          </a:p>
          <a:p>
            <a:pPr algn="ctr" indent="0" marL="0">
              <a:buNone/>
            </a:pPr>
            <a:r>
              <a:rPr lang="en-US" sz="1200" b="0" dirty="0">
                <a:solidFill>
                  <a:srgbClr val="7B5EA7"/>
                </a:solidFill>
                <a:latin typeface="Trebuchet MS" pitchFamily="34" charset="0"/>
              </a:rPr>
              <a:t>AP22110010888</a:t>
            </a:r>
          </a:p>
        </p:txBody>
      </p:sp>
      <p:sp>
        <p:nvSpPr>
          <p:cNvPr id="12" name="Member4"/>
          <p:cNvSpPr/>
          <p:nvPr/>
        </p:nvSpPr>
        <p:spPr>
          <a:xfrm>
            <a:off x="4663320" y="4220640"/>
            <a:ext cx="4115880" cy="860000"/>
          </a:xfrm>
          <a:prstGeom prst="roundRect">
            <a:avLst>
              <a:gd name="adj" fmla="val 20000"/>
            </a:avLst>
          </a:prstGeom>
          <a:solidFill>
            <a:srgbClr val="EDE7F6"/>
          </a:solidFill>
          <a:ln w="19050">
            <a:solidFill>
              <a:srgbClr val="7B5EA7"/>
            </a:solidFill>
          </a:ln>
        </p:spPr>
        <p:txBody>
          <a:bodyPr wrap="square" rtlCol="0" anchor="ctr" lIns="182880" rIns="182880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48C"/>
                </a:solidFill>
                <a:latin typeface="Trebuchet MS" pitchFamily="34" charset="0"/>
              </a:rPr>
              <a:t>Surya Teja Bonthu</a:t>
            </a:r>
          </a:p>
          <a:p>
            <a:pPr algn="ctr" indent="0" marL="0">
              <a:buNone/>
            </a:pPr>
            <a:r>
              <a:rPr lang="en-US" sz="1200" b="0" dirty="0">
                <a:solidFill>
                  <a:srgbClr val="7B5EA7"/>
                </a:solidFill>
                <a:latin typeface="Trebuchet MS" pitchFamily="34" charset="0"/>
              </a:rPr>
              <a:t>AP22110010912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Humor Detection in Romanized Telugu-English Code-Mixed Text</dc:title>
  <dc:subject>PptxGenJS Presentation</dc:subject>
  <dc:creator>PptxGenJS</dc:creator>
  <cp:lastModifiedBy>PptxGenJS</cp:lastModifiedBy>
  <cp:revision>1</cp:revision>
  <dcterms:created xsi:type="dcterms:W3CDTF">2026-05-04T04:09:48Z</dcterms:created>
  <dcterms:modified xsi:type="dcterms:W3CDTF">2026-05-04T04:09:48Z</dcterms:modified>
</cp:coreProperties>
</file>